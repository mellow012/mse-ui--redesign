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embeddedFontLst>
    <p:embeddedFont>
      <p:font typeface="Calibri" panose="020F0502020204030204"/>
      <p:regular r:id="rId20"/>
      <p:bold r:id="rId21"/>
      <p:italic r:id="rId22"/>
      <p:boldItalic r:id="rId23"/>
    </p:embeddedFont>
    <p:embeddedFont>
      <p:font typeface="Playfair Display"/>
      <p:bold r:id="rId24"/>
      <p:italic r:id="rId25"/>
      <p:boldItalic r:id="rId26"/>
    </p:embeddedFont>
    <p:embeddedFont>
      <p:font typeface="Inter" panose="02000503000000020004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79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79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1.fntdata"/><Relationship Id="rId3" Type="http://schemas.openxmlformats.org/officeDocument/2006/relationships/slide" Target="slides/slide1.xml"/><Relationship Id="rId29" Type="http://schemas.openxmlformats.org/officeDocument/2006/relationships/font" Target="fonts/font10.fntdata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2" name="Google Shape;122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4" name="Google Shape;154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7" name="Google Shape;197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5" name="Google Shape;225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8" name="Google Shape;248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5" name="Google Shape;255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png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095500" y="2466082"/>
            <a:ext cx="800100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Revitalizing the Malawi Stock Exchange</a:t>
            </a:r>
            <a:endParaRPr lang="en-US" sz="4800" b="1" i="0" u="none" strike="noStrike" cap="none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997523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 User-Centric Redesign for Usability, Trust, and Inclusion</a:t>
            </a:r>
            <a:endParaRPr lang="en-US" sz="1800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4744194"/>
            <a:ext cx="762000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0B981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Presentation by Wisdom Mlambia</a:t>
            </a:r>
            <a:br>
              <a:rPr lang="en-US" sz="1800" b="1" i="0" u="none" strike="noStrike" cap="none">
                <a:solidFill>
                  <a:srgbClr val="10B981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</a:br>
            <a:r>
              <a:rPr lang="en-US" sz="1800" b="1" i="0" u="none" strike="noStrike" cap="none">
                <a:solidFill>
                  <a:srgbClr val="10B981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REG #: 2131155007</a:t>
            </a:r>
            <a:endParaRPr lang="en-US" sz="1800" b="1" i="0" u="none" strike="noStrike" cap="none">
              <a:solidFill>
                <a:srgbClr val="10B981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518320"/>
            <a:ext cx="5238750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2518320"/>
            <a:ext cx="5238750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2908845"/>
            <a:ext cx="44577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62025" y="308029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Economic Gateway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3594645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MSE is a critical portal for foreign and local investment in Malawi. A professional digital presence is essential for building investor confidence.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772275" y="308029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Usability Gap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772275" y="3594645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current interface suffers from legacy design patterns that create friction for new users, hindering financial literacy and participation.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772275" y="290884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Redesign MSE.co.mw?</a:t>
            </a:r>
            <a:endParaRPr lang="en-US" sz="3600" b="1" i="0" u="none" strike="noStrike" cap="none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571500" y="1217265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05159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244212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Key Friction Points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2051595"/>
            <a:ext cx="52387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57250" y="290884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Cognitive Overload: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Dense text blocks and lack of clear focal points overwhelm the user immediately.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857250" y="366132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Outdated Navigation: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Menu structures do not follow standard mental models for financial sites.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857250" y="441379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Poor Accessibility: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Low contrast text and small touch targets exclude users with visual impairments or mobile devices.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57150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Current State: Design Analysis</a:t>
            </a:r>
            <a:endParaRPr lang="en-US" sz="3600" b="1" i="0" u="none" strike="noStrike" cap="none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71500" y="1217265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292789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368037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443284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Picture 0" descr="Homep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385" y="1845945"/>
            <a:ext cx="5544820" cy="39408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380208"/>
            <a:ext cx="3492549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799" y="2380208"/>
            <a:ext cx="3492549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2380208"/>
            <a:ext cx="3492549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94225" y="3313658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Heuristic Evaluation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866775" y="3828008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Audited the site against Nielsen’s 10 Usability Heuristics to identify objective severity issues in the interface.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4572524" y="3313658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User Personas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4645074" y="3828008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Simulated tasks (e.g., "Find daily stock rates") from the perspective of a Local Student and an International Investor.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8350824" y="3313658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Responsive Testing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8423374" y="3828008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Analyzed the viewport behavior across desktop, tablet, and mobile breakpoints to check for layout breakage.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127200" y="269453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857875" y="269453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731424" y="2694533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Evaluation Methodology</a:t>
            </a:r>
            <a:endParaRPr lang="en-US" sz="3600" b="1" i="0" u="none" strike="noStrike" cap="none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71500" y="1217265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05159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4164210"/>
            <a:ext cx="5238750" cy="120387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254496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Law of Proximity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305931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Humans perceive objects that are close to each other as a group. The redesign uses this to logically group related market data.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81750" y="205159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62000" y="4354710"/>
            <a:ext cx="48577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369A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Application:</a:t>
            </a:r>
            <a:r>
              <a:rPr lang="en-US" sz="1350" b="0" i="0" u="none" strike="noStrike" cap="none">
                <a:solidFill>
                  <a:srgbClr val="0369A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Instead of scattered links, stock prices, tickers, and % changes are grouped into distinct "cards" to reduce processing time.</a:t>
            </a:r>
            <a:endParaRPr lang="en-US" sz="1350" b="0" i="0" u="none" strike="noStrike" cap="none">
              <a:solidFill>
                <a:srgbClr val="0369A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57150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HCI Principle: Gestalt &amp; Grouping</a:t>
            </a:r>
            <a:endParaRPr lang="en-US" sz="3600" b="1" i="0" u="none" strike="noStrike" cap="none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71500" y="1217265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451645"/>
            <a:ext cx="523875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2451645"/>
            <a:ext cx="5238750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962025" y="284217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F-Shaped Scanning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962025" y="3356520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Users rarely read every word. We designed the layout to support natural "F-shaped" scanning patterns by placing high-value content (Current Rates, News) along the top and left axes.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6772275" y="284217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Typographic Scale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6772275" y="3356520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We established a strict typographic scale. Headings (Playfair Display) denote section starts, while sans-serif (Inter) is used for data readability. Size differences guide the eye instantly.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57150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HCI Principle: Visual Hierarchy</a:t>
            </a:r>
            <a:endParaRPr lang="en-US" sz="3600" b="1" i="0" u="none" strike="noStrike" cap="none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71500" y="1217265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227808"/>
            <a:ext cx="3492549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799" y="2227808"/>
            <a:ext cx="3492549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2227808"/>
            <a:ext cx="3492549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794225" y="3161258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Color Contrast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866775" y="3675608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All text meets the AA standard (4.5:1 ratio). We replaced the low-contrast grey text with slate-900 for maximum readability.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4572524" y="3161258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Fitts's Law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4645074" y="3675608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Primary call-to-action buttons (like "View Market Data") were enlarged and placed in easily accessible zones to reduce acquisition time.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8350824" y="3161258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Semantic HTML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8423374" y="3675608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design structure implies proper heading tags (h1-h6), ensuring screen readers can navigate the content hierarchy effectively.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79" name="Google Shape;179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103387" y="2542133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976937" y="2542133"/>
            <a:ext cx="2381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683799" y="254213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571500" y="57150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HCI Principle: Accessibility (WCAG)</a:t>
            </a:r>
            <a:endParaRPr lang="en-US" sz="3600" b="1" i="0" u="none" strike="noStrike" cap="none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71500" y="1217265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71500" y="762000"/>
            <a:ext cx="5200650" cy="53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New Homepage</a:t>
            </a:r>
            <a:endParaRPr lang="en-US" sz="3600" b="1" i="0" u="none" strike="noStrike" cap="none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71500" y="1407765"/>
            <a:ext cx="4953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252537" y="2299245"/>
            <a:ext cx="377047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Clean, Trusted, Professional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295647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redesign adopts a "Fintech" aesthetic. A hero section immediately communicates the exchange's value, while the navigation is simplified to 5 core items.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450904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Outcome: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A 40% reduction in visual clutter allows the user to focus on what matters—the market performance.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" name="Picture 0" descr="Homepage -M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565" y="287655"/>
            <a:ext cx="3199765" cy="63919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016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05159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571500" y="2018258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Data Visualization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2532608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Raw tables are difficult to parse. The new dashboard introduces graphical representations of market trends.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857250" y="3332708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Sparklines: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Quick trend visualization for each listed company.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857250" y="4380458"/>
            <a:ext cx="4953000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Sticky Header: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Key indices remain visible while scrolling.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Pagination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 Proper and clear pagination 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571500"/>
            <a:ext cx="11601450" cy="60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Feature Spotlight: Market Watch</a:t>
            </a:r>
            <a:endParaRPr lang="en-US" sz="3600" b="1" i="0" u="none" strike="noStrike" cap="none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71500" y="1217265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09" name="Google Shape;209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35175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449094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Picture 0" descr="Market Wat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945" y="1354455"/>
            <a:ext cx="4293235" cy="5354320"/>
          </a:xfrm>
          <a:prstGeom prst="rect">
            <a:avLst/>
          </a:prstGeom>
        </p:spPr>
      </p:pic>
      <p:pic>
        <p:nvPicPr>
          <p:cNvPr id="2" name="Google Shape;211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35940" y="5227548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016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571500" y="762000"/>
            <a:ext cx="5200650" cy="60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IDENTIFIED ISSUES</a:t>
            </a:r>
            <a:endParaRPr lang="en-US" sz="3600" b="1" i="0" u="none" strike="noStrike" cap="none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71500" y="1407765"/>
            <a:ext cx="4953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1828800" y="2095500"/>
          <a:ext cx="8532495" cy="294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124"/>
                <a:gridCol w="2133124"/>
                <a:gridCol w="2133123"/>
                <a:gridCol w="2133124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heuristic violeted</a:t>
                      </a:r>
                      <a:endParaRPr lang="en-US" sz="14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Heuristic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>
                          <a:sym typeface="+mn-ea"/>
                        </a:rPr>
                        <a:t>Issue</a:t>
                      </a:r>
                      <a:endParaRPr lang="en-US" sz="14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User Pain Points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Nielsen #7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Flexibility and Efficiency of Use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No Proper Nav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Frustration, high bounce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Nielsen #8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Aesthetic and Minimalist Design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Text Clutter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Overwhelm, eyestrain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Nielsen #2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Match Between the System and the Real World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Unexplained Jargon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Misinformation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Nielsen #4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sym typeface="+mn-ea"/>
                        </a:rPr>
                        <a:t>Consistency and Standards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 Confusion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Frustration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Nielsen #6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Recognition Rather than Recall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Poor design logic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exhausting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sym typeface="+mn-ea"/>
                        </a:rPr>
                        <a:t>Nielsen #10</a:t>
                      </a:r>
                      <a:endParaRPr lang="en-US" altLang="en-US" sz="14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sym typeface="+mn-ea"/>
                        </a:rPr>
                        <a:t> Help and Documentation</a:t>
                      </a:r>
                      <a:endParaRPr lang="en-US" altLang="en-US" sz="1400"/>
                    </a:p>
                    <a:p>
                      <a:pPr>
                        <a:buNone/>
                      </a:pP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:No onsite help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Abandonment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184945"/>
            <a:ext cx="5238750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2184945"/>
            <a:ext cx="523875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962025" y="261357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F444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Original Design</a:t>
            </a:r>
            <a:endParaRPr lang="en-US" sz="2100" b="1" i="0" u="none" strike="noStrike" cap="none">
              <a:solidFill>
                <a:srgbClr val="EF4444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6772275" y="261357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New Design</a:t>
            </a:r>
            <a:endParaRPr lang="en-US" sz="2100" b="1" i="0" u="none" strike="noStrike" cap="none">
              <a:solidFill>
                <a:srgbClr val="10B98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1247775" y="3080295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Navigation:</a:t>
            </a:r>
            <a:r>
              <a:rPr lang="en-US" sz="150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Deep, multi-level menus hidden behind generic labels.</a:t>
            </a:r>
            <a:endParaRPr lang="en-US" sz="1500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1247775" y="3832770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Visuals:</a:t>
            </a:r>
            <a:r>
              <a:rPr lang="en-US" sz="150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Text-heavy, low contrast, no visual hierarchy.</a:t>
            </a:r>
            <a:endParaRPr lang="en-US" sz="1500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1247775" y="4585245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Trust:</a:t>
            </a:r>
            <a:r>
              <a:rPr lang="en-US" sz="150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Felt outdated, resembling a directory rather than an exchange.</a:t>
            </a:r>
            <a:endParaRPr lang="en-US" sz="1500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7058025" y="3080295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Navigation: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Flattened architecture with clear, descriptive labels.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7058025" y="3832770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Visuals: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Data-rich dashboard, clear typography, semantic colors.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7058025" y="4585245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Trust: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Modern aesthetic builds confidence and encourages investment.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571500" y="57150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Before vs. After Comparison</a:t>
            </a:r>
            <a:endParaRPr lang="en-US" sz="3600" b="1" i="0" u="none" strike="noStrike" cap="none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571500" y="1217265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0" name="Google Shape;240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309934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385182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460429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309934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385182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460429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2032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 txBox="1"/>
          <p:nvPr/>
        </p:nvSpPr>
        <p:spPr>
          <a:xfrm>
            <a:off x="2309812" y="2583209"/>
            <a:ext cx="8001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Impact &amp; Conclusion</a:t>
            </a:r>
            <a:endParaRPr lang="en-US" sz="4200" b="1" i="0" u="none" strike="noStrike" cap="none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2500312" y="3360390"/>
            <a:ext cx="7620000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By applying fundamental HCI principles—Gestalt grouping, strict visual hierarchy, and accessibility standards—we transform the MSE website from a basic informational page into a dynamic tool for financial inclusion.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4030741" y="2471737"/>
            <a:ext cx="4130516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Questions?</a:t>
            </a:r>
            <a:endParaRPr lang="en-US" sz="6000" b="1" i="0" u="none" strike="noStrike" cap="none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4129087" y="3500437"/>
            <a:ext cx="3933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Thank you for your time.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4129087" y="4186237"/>
            <a:ext cx="39338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View Prototype on Figma</a:t>
            </a:r>
            <a:endParaRPr lang="en-US" sz="1350" b="0" i="0" u="none" strike="noStrike" cap="none">
              <a:solidFill>
                <a:srgbClr val="64748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61" name="Google Shape;261;p2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126384" y="4195762"/>
            <a:ext cx="1333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4319</Words>
  <Application>WPS Presentation</Application>
  <PresentationFormat/>
  <Paragraphs>181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Playfair Display</vt:lpstr>
      <vt:lpstr>Inter</vt:lpstr>
      <vt:lpstr>Times New Roman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wisdom Mlambia</cp:lastModifiedBy>
  <cp:revision>4</cp:revision>
  <dcterms:created xsi:type="dcterms:W3CDTF">2025-12-03T07:30:21Z</dcterms:created>
  <dcterms:modified xsi:type="dcterms:W3CDTF">2025-12-03T10:22:06Z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A5653C596F32468B86567BF9E61D6CC4_12</vt:lpwstr>
  </property>
  <property fmtid="{D5CDD505-2E9C-101B-9397-08002B2CF9AE}" pid="3" name="KSOProductBuildVer">
    <vt:lpwstr>1033-12.2.0.23155</vt:lpwstr>
  </property>
</Properties>
</file>